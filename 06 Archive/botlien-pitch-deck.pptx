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28600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C98A3D"/>
                </a:solidFill>
                <a:latin typeface="Consolas"/>
              </a:rPr>
              <a:t>BOTLIEN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651760"/>
            <a:ext cx="10515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FFFFFF"/>
                </a:solidFill>
                <a:latin typeface="Calibri"/>
              </a:rPr>
              <a:t>The Collateral Truth Layer for Robot Lending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794760"/>
            <a:ext cx="8686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1">
                <a:solidFill>
                  <a:srgbClr val="DDE8F0"/>
                </a:solidFill>
                <a:latin typeface="Calibri"/>
              </a:rPr>
              <a:t>Live telemetry from every financed robot, turned into the risk signal lenders don't have today.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0350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Antonio D'Angelo  +  Samuel Kim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DDE8F0"/>
                </a:solidFill>
                <a:latin typeface="Consolas"/>
              </a:rPr>
              <a:t>Pre-Seed  ·  Confidential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98A3D"/>
                </a:solidFill>
                <a:latin typeface="Consolas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A1F26"/>
                </a:solidFill>
                <a:latin typeface="Calibri"/>
              </a:rPr>
              <a:t>Lenders finance robots blind, then find out something's wrong when a payment doesn't show up.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37360"/>
            <a:ext cx="10881360" cy="0"/>
          </a:xfrm>
          <a:prstGeom prst="line">
            <a:avLst/>
          </a:prstGeom>
          <a:ln w="12700">
            <a:solidFill>
              <a:srgbClr val="D8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2057400"/>
            <a:ext cx="667512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450">
                <a:solidFill>
                  <a:srgbClr val="1A1F26"/>
                </a:solidFill>
                <a:latin typeface="Calibri"/>
              </a:rPr>
              <a:t>•  Robots are becoming standard financeable assets.  </a:t>
            </a:r>
            <a:r>
              <a:rPr b="0" sz="1450">
                <a:solidFill>
                  <a:srgbClr val="5B6675"/>
                </a:solidFill>
                <a:latin typeface="Calibri"/>
              </a:rPr>
              <a:t>Equipment lessors now file them next to CNC machines and forklifts, not as exotic credit cases.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450">
                <a:solidFill>
                  <a:srgbClr val="1A1F26"/>
                </a:solidFill>
                <a:latin typeface="Calibri"/>
              </a:rPr>
              <a:t>•  But underwriting still relies on paperwork, not the asset itself.  </a:t>
            </a:r>
            <a:r>
              <a:rPr b="0" sz="1450">
                <a:solidFill>
                  <a:srgbClr val="5B6675"/>
                </a:solidFill>
                <a:latin typeface="Calibri"/>
              </a:rPr>
              <a:t>A robot on a loan behaves exactly like any other piece of collateral to the lender: invisible between payments.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450">
                <a:solidFill>
                  <a:srgbClr val="1A1F26"/>
                </a:solidFill>
                <a:latin typeface="Calibri"/>
              </a:rPr>
              <a:t>•  These robots already report their own activity, live.  </a:t>
            </a:r>
            <a:r>
              <a:rPr b="0" sz="1450">
                <a:solidFill>
                  <a:srgbClr val="5B6675"/>
                </a:solidFill>
                <a:latin typeface="Calibri"/>
              </a:rPr>
              <a:t>Every deployed unit talks to its own maker's cloud API constantly. That signal exists. No lender is using it.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450">
                <a:solidFill>
                  <a:srgbClr val="1A1F26"/>
                </a:solidFill>
                <a:latin typeface="Calibri"/>
              </a:rPr>
              <a:t>•  The result: defaults get discovered late, not predicted early.  </a:t>
            </a:r>
            <a:r>
              <a:rPr b="0" sz="1450">
                <a:solidFill>
                  <a:srgbClr val="5B6675"/>
                </a:solidFill>
                <a:latin typeface="Calibri"/>
              </a:rPr>
              <a:t>By the time a payment is missed, the robot may have been idle, damaged, or repossessed by someone else for weeks.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2103120"/>
            <a:ext cx="3657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3E6E96"/>
                </a:solidFill>
                <a:latin typeface="Calibri"/>
              </a:rPr>
              <a:t>$16.7B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697480"/>
            <a:ext cx="3657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B6675"/>
                </a:solidFill>
                <a:latin typeface="Calibri"/>
              </a:rPr>
              <a:t>Global industrial robot installation value, an all-time high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3520440"/>
            <a:ext cx="3657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3E6E96"/>
                </a:solidFill>
                <a:latin typeface="Calibri"/>
              </a:rPr>
              <a:t>130,000+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4114800"/>
            <a:ext cx="3657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B6675"/>
                </a:solidFill>
                <a:latin typeface="Calibri"/>
              </a:rPr>
              <a:t>Pudu units alone already shipped to 50,000+ customers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9224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675"/>
                </a:solidFill>
                <a:latin typeface="Consolas"/>
              </a:rPr>
              <a:t>BOTLIEN  //  CONFIDENTIAL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9224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675"/>
                </a:solidFill>
                <a:latin typeface="Consola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98A3D"/>
                </a:solidFill>
                <a:latin typeface="Consolas"/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A1F26"/>
                </a:solidFill>
                <a:latin typeface="Calibri"/>
              </a:rPr>
              <a:t>Botlien connects directly to the financed robot's own API and gives the lender a live risk view for the life of the loan.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691640"/>
            <a:ext cx="10881360" cy="0"/>
          </a:xfrm>
          <a:prstGeom prst="line">
            <a:avLst/>
          </a:prstGeom>
          <a:ln w="12700">
            <a:solidFill>
              <a:srgbClr val="D8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965960"/>
            <a:ext cx="105156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1A1F26"/>
                </a:solidFill>
                <a:latin typeface="Calibri"/>
              </a:rPr>
              <a:t>•  Built for one customer: the lender. Not the operator, not the OEM, not the insurer, one clear buyer, one clear job.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1A1F26"/>
                </a:solidFill>
                <a:latin typeface="Calibri"/>
              </a:rPr>
              <a:t>•  Borrower authorizes API access to the specific financed robot as a condition of the loan, the same way GPS trackers or insurance proof are already standard collateral conditions in secured lending.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500">
                <a:solidFill>
                  <a:srgbClr val="1A1F26"/>
                </a:solidFill>
                <a:latin typeface="Calibri"/>
              </a:rPr>
              <a:t>•  Utilization, uptime, and status flow into a single risk score and early-warning flags, not a raw data feed nobody has time to read.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2976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5B6675"/>
                </a:solidFill>
                <a:latin typeface="Calibri"/>
              </a:rPr>
              <a:t>The closest real-world pattern: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61772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1">
                <a:solidFill>
                  <a:srgbClr val="3E6E96"/>
                </a:solidFill>
                <a:latin typeface="Calibri"/>
              </a:rPr>
              <a:t>“Plaid for robot collateral.” Plaid doesn't lend money, it connects a borrower's data to whoever needs to see it. Botlien does the same thing for a robot's live activity instead of a bank account.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9224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675"/>
                </a:solidFill>
                <a:latin typeface="Consolas"/>
              </a:rPr>
              <a:t>BOTLIEN  // 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9224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675"/>
                </a:solidFill>
                <a:latin typeface="Consola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98A3D"/>
                </a:solidFill>
                <a:latin typeface="Consolas"/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A1F26"/>
                </a:solidFill>
                <a:latin typeface="Calibri"/>
              </a:rPr>
              <a:t>Four steps, from loan signing to ongoing risk visibility.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20240"/>
            <a:ext cx="2514600" cy="3108960"/>
          </a:xfrm>
          <a:prstGeom prst="roundRect">
            <a:avLst>
              <a:gd name="adj" fmla="val 6000"/>
            </a:avLst>
          </a:prstGeom>
          <a:solidFill>
            <a:srgbClr val="DDE8F0"/>
          </a:solidFill>
          <a:ln w="9525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21488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3E6E96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834640"/>
            <a:ext cx="2148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A1F26"/>
                </a:solidFill>
                <a:latin typeface="Calibri"/>
              </a:rPr>
              <a:t>Loan Signed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383280"/>
            <a:ext cx="21488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B6675"/>
                </a:solidFill>
                <a:latin typeface="Calibri"/>
              </a:rPr>
              <a:t>Borrower authorizes API access to the financed robot as a loan condition.</a:t>
            </a:r>
          </a:p>
        </p:txBody>
      </p:sp>
      <p:sp>
        <p:nvSpPr>
          <p:cNvPr id="9" name="Chevron 8"/>
          <p:cNvSpPr/>
          <p:nvPr/>
        </p:nvSpPr>
        <p:spPr>
          <a:xfrm>
            <a:off x="3136392" y="3364992"/>
            <a:ext cx="274320" cy="219456"/>
          </a:xfrm>
          <a:prstGeom prst="chevron">
            <a:avLst/>
          </a:prstGeom>
          <a:solidFill>
            <a:srgbClr val="C9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383280" y="1920240"/>
            <a:ext cx="2514600" cy="3108960"/>
          </a:xfrm>
          <a:prstGeom prst="roundRect">
            <a:avLst>
              <a:gd name="adj" fmla="val 6000"/>
            </a:avLst>
          </a:prstGeom>
          <a:solidFill>
            <a:srgbClr val="DDE8F0"/>
          </a:solidFill>
          <a:ln w="9525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2103120"/>
            <a:ext cx="21488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3E6E96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834640"/>
            <a:ext cx="2148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A1F26"/>
                </a:solidFill>
                <a:latin typeface="Calibri"/>
              </a:rPr>
              <a:t>Robot Connected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3383280"/>
            <a:ext cx="21488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B6675"/>
                </a:solidFill>
                <a:latin typeface="Calibri"/>
              </a:rPr>
              <a:t>Botlien links to the OEM's cloud API (Pudu, Bear, and others as coverage expands).</a:t>
            </a:r>
          </a:p>
        </p:txBody>
      </p:sp>
      <p:sp>
        <p:nvSpPr>
          <p:cNvPr id="14" name="Chevron 13"/>
          <p:cNvSpPr/>
          <p:nvPr/>
        </p:nvSpPr>
        <p:spPr>
          <a:xfrm>
            <a:off x="5879592" y="3364992"/>
            <a:ext cx="274320" cy="219456"/>
          </a:xfrm>
          <a:prstGeom prst="chevron">
            <a:avLst/>
          </a:prstGeom>
          <a:solidFill>
            <a:srgbClr val="C9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126480" y="1920240"/>
            <a:ext cx="2514600" cy="3108960"/>
          </a:xfrm>
          <a:prstGeom prst="roundRect">
            <a:avLst>
              <a:gd name="adj" fmla="val 6000"/>
            </a:avLst>
          </a:prstGeom>
          <a:solidFill>
            <a:srgbClr val="DDE8F0"/>
          </a:solidFill>
          <a:ln w="9525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2103120"/>
            <a:ext cx="21488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3E6E96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834640"/>
            <a:ext cx="2148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A1F26"/>
                </a:solidFill>
                <a:latin typeface="Calibri"/>
              </a:rPr>
              <a:t>Telemetry Normalized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383280"/>
            <a:ext cx="21488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B6675"/>
                </a:solidFill>
                <a:latin typeface="Calibri"/>
              </a:rPr>
              <a:t>Utilization, uptime, status, and location are unified across brands into one schema.</a:t>
            </a:r>
          </a:p>
        </p:txBody>
      </p:sp>
      <p:sp>
        <p:nvSpPr>
          <p:cNvPr id="19" name="Chevron 18"/>
          <p:cNvSpPr/>
          <p:nvPr/>
        </p:nvSpPr>
        <p:spPr>
          <a:xfrm>
            <a:off x="8622792" y="3364992"/>
            <a:ext cx="274320" cy="219456"/>
          </a:xfrm>
          <a:prstGeom prst="chevron">
            <a:avLst/>
          </a:prstGeom>
          <a:solidFill>
            <a:srgbClr val="C9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869680" y="1920240"/>
            <a:ext cx="2514600" cy="3108960"/>
          </a:xfrm>
          <a:prstGeom prst="roundRect">
            <a:avLst>
              <a:gd name="adj" fmla="val 6000"/>
            </a:avLst>
          </a:prstGeom>
          <a:solidFill>
            <a:srgbClr val="DDE8F0"/>
          </a:solidFill>
          <a:ln w="9525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52560" y="2103120"/>
            <a:ext cx="21488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3E6E96"/>
                </a:solidFill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2834640"/>
            <a:ext cx="2148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A1F26"/>
                </a:solidFill>
                <a:latin typeface="Calibri"/>
              </a:rPr>
              <a:t>Lender Dashboard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0" y="3383280"/>
            <a:ext cx="21488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B6675"/>
                </a:solidFill>
                <a:latin typeface="Calibri"/>
              </a:rPr>
              <a:t>Risk score and early-warning flags, per loan, per portfolio, updated continuously.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49224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675"/>
                </a:solidFill>
                <a:latin typeface="Consolas"/>
              </a:rPr>
              <a:t>BOTLIEN  //  CONFIDENTIAL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49224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675"/>
                </a:solidFill>
                <a:latin typeface="Consola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98A3D"/>
                </a:solidFill>
                <a:latin typeface="Consolas"/>
              </a:rPr>
              <a:t>WHY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A1F26"/>
                </a:solidFill>
                <a:latin typeface="Calibri"/>
              </a:rPr>
              <a:t>Three things are true at the same time, right now, that weren't true two years ago.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463040"/>
            <a:ext cx="10881360" cy="0"/>
          </a:xfrm>
          <a:prstGeom prst="line">
            <a:avLst/>
          </a:prstGeom>
          <a:ln w="12700">
            <a:solidFill>
              <a:srgbClr val="D8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783080"/>
            <a:ext cx="1060704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600"/>
              </a:spcAft>
            </a:pPr>
            <a:r>
              <a:rPr b="1" sz="1500">
                <a:solidFill>
                  <a:srgbClr val="1A1F26"/>
                </a:solidFill>
                <a:latin typeface="Calibri"/>
              </a:rPr>
              <a:t>•  Robots are already deployed at real scale.  </a:t>
            </a:r>
            <a:r>
              <a:rPr b="0" sz="1500">
                <a:solidFill>
                  <a:srgbClr val="5B6675"/>
                </a:solidFill>
                <a:latin typeface="Calibri"/>
              </a:rPr>
              <a:t>Pudu alone: 130,000+ units, 50,000+ customers, 85+ countries. This is not a future market.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b="1" sz="1500">
                <a:solidFill>
                  <a:srgbClr val="1A1F26"/>
                </a:solidFill>
                <a:latin typeface="Calibri"/>
              </a:rPr>
              <a:t>•  The equipment finance industry is already reclassifying robots as standard assets.  </a:t>
            </a:r>
            <a:r>
              <a:rPr b="0" sz="1500">
                <a:solidFill>
                  <a:srgbClr val="5B6675"/>
                </a:solidFill>
                <a:latin typeface="Calibri"/>
              </a:rPr>
              <a:t>Lessors now underwrite robots next to CNC machines and forklifts, not as exotic, bespoke credit.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b="1" sz="1500">
                <a:solidFill>
                  <a:srgbClr val="1A1F26"/>
                </a:solidFill>
                <a:latin typeface="Calibri"/>
              </a:rPr>
              <a:t>•  Real capital is already chasing robot financing.  </a:t>
            </a:r>
            <a:r>
              <a:rPr b="0" sz="1500">
                <a:solidFill>
                  <a:srgbClr val="5B6675"/>
                </a:solidFill>
                <a:latin typeface="Calibri"/>
              </a:rPr>
              <a:t>Cardinal Robotics alone has deployed $800M specifically into RaaS and hardware financing, live FANUC partnership announced at Automate 2026.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b="1" sz="1500">
                <a:solidFill>
                  <a:srgbClr val="1A1F26"/>
                </a:solidFill>
                <a:latin typeface="Calibri"/>
              </a:rPr>
              <a:t>•  The API infrastructure already exists and is already open.  </a:t>
            </a:r>
            <a:r>
              <a:rPr b="0" sz="1500">
                <a:solidFill>
                  <a:srgbClr val="5B6675"/>
                </a:solidFill>
                <a:latin typeface="Calibri"/>
              </a:rPr>
              <a:t>Pudu and Bear Robotics both publish documented, third-party cloud APIs today. Nothing needs to be invented to start.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9224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675"/>
                </a:solidFill>
                <a:latin typeface="Consolas"/>
              </a:rPr>
              <a:t>BOTLIEN  //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9224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675"/>
                </a:solidFill>
                <a:latin typeface="Consola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98A3D"/>
                </a:solidFill>
                <a:latin typeface="Consolas"/>
              </a:rPr>
              <a:t>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A1F26"/>
                </a:solidFill>
                <a:latin typeface="Calibri"/>
              </a:rPr>
              <a:t>A real, growing, already-financed asset base.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463040"/>
            <a:ext cx="10881360" cy="0"/>
          </a:xfrm>
          <a:prstGeom prst="line">
            <a:avLst/>
          </a:prstGeom>
          <a:ln w="12700">
            <a:solidFill>
              <a:srgbClr val="D8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828800"/>
            <a:ext cx="3291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3E6E96"/>
                </a:solidFill>
                <a:latin typeface="Calibri"/>
              </a:rPr>
              <a:t>$16.7B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23160"/>
            <a:ext cx="3291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B6675"/>
                </a:solidFill>
                <a:latin typeface="Calibri"/>
              </a:rPr>
              <a:t>Global industrial robot installation value (IFR)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1828800"/>
            <a:ext cx="3291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3E6E96"/>
                </a:solidFill>
                <a:latin typeface="Calibri"/>
              </a:rPr>
              <a:t>$800M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2423160"/>
            <a:ext cx="3291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B6675"/>
                </a:solidFill>
                <a:latin typeface="Calibri"/>
              </a:rPr>
              <a:t>Already deployed by one lender (Cardinal Robotics) into RaaS financing alone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1828800"/>
            <a:ext cx="3291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3E6E96"/>
                </a:solidFill>
                <a:latin typeface="Calibri"/>
              </a:rPr>
              <a:t>$8-15/hr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2423160"/>
            <a:ext cx="3291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B6675"/>
                </a:solidFill>
                <a:latin typeface="Calibri"/>
              </a:rPr>
              <a:t>Current RaaS pricing floor, pulling mid-market operators into financed, not cash, purchases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6576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5B6675"/>
                </a:solidFill>
                <a:latin typeface="Calibri"/>
              </a:rPr>
              <a:t>The real precedent for this shape of business, done in an adjacent industry: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114800"/>
            <a:ext cx="105156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400">
                <a:solidFill>
                  <a:srgbClr val="1A1F26"/>
                </a:solidFill>
                <a:latin typeface="Calibri"/>
              </a:rPr>
              <a:t>•  CDK Global  </a:t>
            </a:r>
            <a:r>
              <a:rPr b="0" sz="1400">
                <a:solidFill>
                  <a:srgbClr val="5B6675"/>
                </a:solidFill>
                <a:latin typeface="Calibri"/>
              </a:rPr>
              <a:t>acquired for $8.3B in 2022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400">
                <a:solidFill>
                  <a:srgbClr val="1A1F26"/>
                </a:solidFill>
                <a:latin typeface="Calibri"/>
              </a:rPr>
              <a:t>•  Solera Holdings  </a:t>
            </a:r>
            <a:r>
              <a:rPr b="0" sz="1400">
                <a:solidFill>
                  <a:srgbClr val="5B6675"/>
                </a:solidFill>
                <a:latin typeface="Calibri"/>
              </a:rPr>
              <a:t>acquired for ~$6.5B, now $2B+ annual revenue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400">
                <a:solidFill>
                  <a:srgbClr val="1A1F26"/>
                </a:solidFill>
                <a:latin typeface="Calibri"/>
              </a:rPr>
              <a:t>•  Mitchell International  </a:t>
            </a:r>
            <a:r>
              <a:rPr b="0" sz="1400">
                <a:solidFill>
                  <a:srgbClr val="5B6675"/>
                </a:solidFill>
                <a:latin typeface="Calibri"/>
              </a:rPr>
              <a:t>valued in the multi-billions across transactions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76072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3E6E96"/>
                </a:solidFill>
                <a:latin typeface="Calibri"/>
              </a:rPr>
              <a:t>All three became large by owning the neutral data layer between manufacturers, operators, and insurers in automotive. Same shape, different asset class.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9224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675"/>
                </a:solidFill>
                <a:latin typeface="Consolas"/>
              </a:rPr>
              <a:t>BOTLIEN  //  CONFIDENTIAL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9224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675"/>
                </a:solidFill>
                <a:latin typeface="Consola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98A3D"/>
                </a:solidFill>
                <a:latin typeface="Consolas"/>
              </a:rPr>
              <a:t>COMPETITIVE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1A1F26"/>
                </a:solidFill>
                <a:latin typeface="Calibri"/>
              </a:rPr>
              <a:t>The closest player is real, but building for a different robot and a different customer.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463040"/>
            <a:ext cx="10881360" cy="0"/>
          </a:xfrm>
          <a:prstGeom prst="line">
            <a:avLst/>
          </a:prstGeom>
          <a:ln w="12700">
            <a:solidFill>
              <a:srgbClr val="D8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640080" y="1828800"/>
            <a:ext cx="338328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2024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A1F26"/>
                </a:solidFill>
                <a:latin typeface="Calibri"/>
              </a:rPr>
              <a:t/>
            </a:r>
          </a:p>
        </p:txBody>
      </p:sp>
      <p:sp>
        <p:nvSpPr>
          <p:cNvPr id="8" name="Rectangle 7"/>
          <p:cNvSpPr/>
          <p:nvPr/>
        </p:nvSpPr>
        <p:spPr>
          <a:xfrm>
            <a:off x="4160520" y="1828800"/>
            <a:ext cx="3383280" cy="502920"/>
          </a:xfrm>
          <a:prstGeom prst="rect">
            <a:avLst/>
          </a:prstGeom>
          <a:solidFill>
            <a:srgbClr val="DD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0" y="192024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A1F26"/>
                </a:solidFill>
                <a:latin typeface="Calibri"/>
              </a:rPr>
              <a:t>RobotCare (Robot Health Passport)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80960" y="1828800"/>
            <a:ext cx="3383280" cy="50292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18120" y="192024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Botlien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468880"/>
            <a:ext cx="338328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5B6675"/>
                </a:solidFill>
                <a:latin typeface="Calibri"/>
              </a:rPr>
              <a:t>Robot type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60" y="2468880"/>
            <a:ext cx="320040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A1F26"/>
                </a:solidFill>
                <a:latin typeface="Calibri"/>
              </a:rPr>
              <a:t>Humanoid only, 15 OEM platforms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2468880"/>
            <a:ext cx="320040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3E6E96"/>
                </a:solidFill>
                <a:latin typeface="Calibri"/>
              </a:rPr>
              <a:t>Already-deployed service robots (Pudu, Bear, expanding)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40080" y="3090672"/>
            <a:ext cx="10424160" cy="0"/>
          </a:xfrm>
          <a:prstGeom prst="line">
            <a:avLst/>
          </a:prstGeom>
          <a:ln w="6350">
            <a:solidFill>
              <a:srgbClr val="D8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40080" y="3182112"/>
            <a:ext cx="338328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5B6675"/>
                </a:solidFill>
                <a:latin typeface="Calibri"/>
              </a:rPr>
              <a:t>Primary customer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51960" y="3182112"/>
            <a:ext cx="320040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A1F26"/>
                </a:solidFill>
                <a:latin typeface="Calibri"/>
              </a:rPr>
              <a:t>Fleet operator (maintenance &amp; uptime)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3182112"/>
            <a:ext cx="320040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3E6E96"/>
                </a:solidFill>
                <a:latin typeface="Calibri"/>
              </a:rPr>
              <a:t>Lender, one customer, one job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40080" y="3803904"/>
            <a:ext cx="10424160" cy="0"/>
          </a:xfrm>
          <a:prstGeom prst="line">
            <a:avLst/>
          </a:prstGeom>
          <a:ln w="6350">
            <a:solidFill>
              <a:srgbClr val="D8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40080" y="3895344"/>
            <a:ext cx="338328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5B6675"/>
                </a:solidFill>
                <a:latin typeface="Calibri"/>
              </a:rPr>
              <a:t>Stage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51960" y="3895344"/>
            <a:ext cx="320040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A1F26"/>
                </a:solidFill>
                <a:latin typeface="Calibri"/>
              </a:rPr>
              <a:t>Pre-seed, solo founder, zero pilots, zero signed partners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3895344"/>
            <a:ext cx="320040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3E6E96"/>
                </a:solidFill>
                <a:latin typeface="Calibri"/>
              </a:rPr>
              <a:t>Pre-build, two-person team, clear MVP scope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40080" y="4517136"/>
            <a:ext cx="10424160" cy="0"/>
          </a:xfrm>
          <a:prstGeom prst="line">
            <a:avLst/>
          </a:prstGeom>
          <a:ln w="6350">
            <a:solidFill>
              <a:srgbClr val="D8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40080" y="4608576"/>
            <a:ext cx="338328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5B6675"/>
                </a:solidFill>
                <a:latin typeface="Calibri"/>
              </a:rPr>
              <a:t>Patent scope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51960" y="4608576"/>
            <a:ext cx="320040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A1F26"/>
                </a:solidFill>
                <a:latin typeface="Calibri"/>
              </a:rPr>
              <a:t>One specific valuation algorithm (HR IV™)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0" y="4608576"/>
            <a:ext cx="320040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3E6E96"/>
                </a:solidFill>
                <a:latin typeface="Calibri"/>
              </a:rPr>
              <a:t>Open, different model, different asset class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40080" y="5230368"/>
            <a:ext cx="10424160" cy="0"/>
          </a:xfrm>
          <a:prstGeom prst="line">
            <a:avLst/>
          </a:prstGeom>
          <a:ln w="6350">
            <a:solidFill>
              <a:srgbClr val="D8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40080" y="5321808"/>
            <a:ext cx="338328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5B6675"/>
                </a:solidFill>
                <a:latin typeface="Calibri"/>
              </a:rPr>
              <a:t>Access model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51960" y="5321808"/>
            <a:ext cx="320040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A1F26"/>
                </a:solidFill>
                <a:latin typeface="Calibri"/>
              </a:rPr>
              <a:t>Builds its own cross-OEM trust layer over time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0" y="5321808"/>
            <a:ext cx="320040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3E6E96"/>
                </a:solidFill>
                <a:latin typeface="Calibri"/>
              </a:rPr>
              <a:t>Uses already-open, documented OEM APIs today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40080" y="5943600"/>
            <a:ext cx="10424160" cy="0"/>
          </a:xfrm>
          <a:prstGeom prst="line">
            <a:avLst/>
          </a:prstGeom>
          <a:ln w="6350">
            <a:solidFill>
              <a:srgbClr val="D8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40080" y="649224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675"/>
                </a:solidFill>
                <a:latin typeface="Consolas"/>
              </a:rPr>
              <a:t>BOTLIEN  //  CONFIDENTIAL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49224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675"/>
                </a:solidFill>
                <a:latin typeface="Consola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98A3D"/>
                </a:solidFill>
                <a:latin typeface="Consolas"/>
              </a:rPr>
              <a:t>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A1F26"/>
                </a:solidFill>
                <a:latin typeface="Calibri"/>
              </a:rPr>
              <a:t>SaaS, sold to lenders, priced per monitored loan.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463040"/>
            <a:ext cx="10881360" cy="0"/>
          </a:xfrm>
          <a:prstGeom prst="line">
            <a:avLst/>
          </a:prstGeom>
          <a:ln w="12700">
            <a:solidFill>
              <a:srgbClr val="D8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828800"/>
            <a:ext cx="1051560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b="1" sz="1500">
                <a:solidFill>
                  <a:srgbClr val="1A1F26"/>
                </a:solidFill>
                <a:latin typeface="Calibri"/>
              </a:rPr>
              <a:t>•  Phase 1 — Monitoring SaaS.  </a:t>
            </a:r>
            <a:r>
              <a:rPr b="0" sz="1500">
                <a:solidFill>
                  <a:srgbClr val="5B6675"/>
                </a:solidFill>
                <a:latin typeface="Calibri"/>
              </a:rPr>
              <a:t>Per-robot, per-month fee to lenders for live risk visibility on financed collateral. No lending license required, no balance sheet risk.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b="1" sz="1500">
                <a:solidFill>
                  <a:srgbClr val="1A1F26"/>
                </a:solidFill>
                <a:latin typeface="Calibri"/>
              </a:rPr>
              <a:t>•  Phase 2 — Risk scoring as a service.  </a:t>
            </a:r>
            <a:r>
              <a:rPr b="0" sz="1500">
                <a:solidFill>
                  <a:srgbClr val="5B6675"/>
                </a:solidFill>
                <a:latin typeface="Calibri"/>
              </a:rPr>
              <a:t>License the underwriting model itself to equipment lenders evaluating new robot loans, not just monitoring existing ones.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b="1" sz="1500">
                <a:solidFill>
                  <a:srgbClr val="1A1F26"/>
                </a:solidFill>
                <a:latin typeface="Calibri"/>
              </a:rPr>
              <a:t>•  Phase 3 — The data asset.  </a:t>
            </a:r>
            <a:r>
              <a:rPr b="0" sz="1500">
                <a:solidFill>
                  <a:srgbClr val="5B6675"/>
                </a:solidFill>
                <a:latin typeface="Calibri"/>
              </a:rPr>
              <a:t>Aggregated, anonymized performance and default-correlation data becomes the actuarial foundation nobody else has, licensable to insurers and larger lenders.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b="1" sz="1500">
                <a:solidFill>
                  <a:srgbClr val="1A1F26"/>
                </a:solidFill>
                <a:latin typeface="Calibri"/>
              </a:rPr>
              <a:t>•  Why this structure  </a:t>
            </a:r>
            <a:r>
              <a:rPr b="0" sz="1500">
                <a:solidFill>
                  <a:srgbClr val="5B6675"/>
                </a:solidFill>
                <a:latin typeface="Calibri"/>
              </a:rPr>
              <a:t>Each phase is a natural, low-risk expansion of the one before it. No phase requires becoming a licensed lender.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9224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675"/>
                </a:solidFill>
                <a:latin typeface="Consolas"/>
              </a:rPr>
              <a:t>BOTLIEN  //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9224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675"/>
                </a:solidFill>
                <a:latin typeface="Consola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98A3D"/>
                </a:solidFill>
                <a:latin typeface="Consolas"/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A1F26"/>
                </a:solidFill>
                <a:latin typeface="Calibri"/>
              </a:rPr>
              <a:t>First 6 months.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463040"/>
            <a:ext cx="10881360" cy="0"/>
          </a:xfrm>
          <a:prstGeom prst="line">
            <a:avLst/>
          </a:prstGeom>
          <a:ln w="12700">
            <a:solidFill>
              <a:srgbClr val="D8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685800" y="1965960"/>
            <a:ext cx="164592" cy="164592"/>
          </a:xfrm>
          <a:prstGeom prst="ellipse">
            <a:avLst/>
          </a:prstGeom>
          <a:solidFill>
            <a:srgbClr val="C9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768096" y="2130552"/>
            <a:ext cx="0" cy="0"/>
          </a:xfrm>
          <a:prstGeom prst="line">
            <a:avLst/>
          </a:prstGeom>
          <a:ln w="12700">
            <a:solidFill>
              <a:srgbClr val="D8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051560" y="192024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3E6E96"/>
                </a:solidFill>
                <a:latin typeface="Consolas"/>
              </a:rPr>
              <a:t>Months 1-2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1901952"/>
            <a:ext cx="795527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1A1F26"/>
                </a:solidFill>
                <a:latin typeface="Calibri"/>
              </a:rPr>
              <a:t>Build Pudu + Bear API integration and normalization layer. Ship the MVP risk dashboard.</a:t>
            </a:r>
          </a:p>
        </p:txBody>
      </p:sp>
      <p:sp>
        <p:nvSpPr>
          <p:cNvPr id="10" name="Oval 9"/>
          <p:cNvSpPr/>
          <p:nvPr/>
        </p:nvSpPr>
        <p:spPr>
          <a:xfrm>
            <a:off x="685800" y="2971800"/>
            <a:ext cx="164592" cy="164592"/>
          </a:xfrm>
          <a:prstGeom prst="ellipse">
            <a:avLst/>
          </a:prstGeom>
          <a:solidFill>
            <a:srgbClr val="C9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768096" y="3136392"/>
            <a:ext cx="0" cy="0"/>
          </a:xfrm>
          <a:prstGeom prst="line">
            <a:avLst/>
          </a:prstGeom>
          <a:ln w="12700">
            <a:solidFill>
              <a:srgbClr val="D8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51560" y="292608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3E6E96"/>
                </a:solidFill>
                <a:latin typeface="Consolas"/>
              </a:rPr>
              <a:t>Months 2-3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2907792"/>
            <a:ext cx="795527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1A1F26"/>
                </a:solidFill>
                <a:latin typeface="Calibri"/>
              </a:rPr>
              <a:t>Land one design partner lender or equipment finance company willing to pilot on real loans.</a:t>
            </a:r>
          </a:p>
        </p:txBody>
      </p:sp>
      <p:sp>
        <p:nvSpPr>
          <p:cNvPr id="14" name="Oval 13"/>
          <p:cNvSpPr/>
          <p:nvPr/>
        </p:nvSpPr>
        <p:spPr>
          <a:xfrm>
            <a:off x="685800" y="3977640"/>
            <a:ext cx="164592" cy="164592"/>
          </a:xfrm>
          <a:prstGeom prst="ellipse">
            <a:avLst/>
          </a:prstGeom>
          <a:solidFill>
            <a:srgbClr val="C9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768096" y="4142232"/>
            <a:ext cx="0" cy="0"/>
          </a:xfrm>
          <a:prstGeom prst="line">
            <a:avLst/>
          </a:prstGeom>
          <a:ln w="12700">
            <a:solidFill>
              <a:srgbClr val="D8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51560" y="39319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3E6E96"/>
                </a:solidFill>
                <a:latin typeface="Consolas"/>
              </a:rPr>
              <a:t>Months 3-4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3913632"/>
            <a:ext cx="795527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1A1F26"/>
                </a:solidFill>
                <a:latin typeface="Calibri"/>
              </a:rPr>
              <a:t>Run the pilot on a real, small portfolio. Calibrate the risk-scoring model against real outcomes.</a:t>
            </a:r>
          </a:p>
        </p:txBody>
      </p:sp>
      <p:sp>
        <p:nvSpPr>
          <p:cNvPr id="18" name="Oval 17"/>
          <p:cNvSpPr/>
          <p:nvPr/>
        </p:nvSpPr>
        <p:spPr>
          <a:xfrm>
            <a:off x="685800" y="4983480"/>
            <a:ext cx="164592" cy="164592"/>
          </a:xfrm>
          <a:prstGeom prst="ellipse">
            <a:avLst/>
          </a:prstGeom>
          <a:solidFill>
            <a:srgbClr val="C9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493776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3E6E96"/>
                </a:solidFill>
                <a:latin typeface="Consolas"/>
              </a:rPr>
              <a:t>Months 4-6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0" y="4919472"/>
            <a:ext cx="795527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1A1F26"/>
                </a:solidFill>
                <a:latin typeface="Calibri"/>
              </a:rPr>
              <a:t>Expand robot brand coverage. Formalize pricing. Begin outreach to additional lenders using pilot results.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9224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675"/>
                </a:solidFill>
                <a:latin typeface="Consolas"/>
              </a:rPr>
              <a:t>BOTLIEN  //  CONFIDENTIAL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9224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675"/>
                </a:solidFill>
                <a:latin typeface="Consola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98A3D"/>
                </a:solidFill>
                <a:latin typeface="Consolas"/>
              </a:rP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A1F26"/>
                </a:solidFill>
                <a:latin typeface="Calibri"/>
              </a:rPr>
              <a:t>Two people, two sides of the same problem.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463040"/>
            <a:ext cx="10881360" cy="0"/>
          </a:xfrm>
          <a:prstGeom prst="line">
            <a:avLst/>
          </a:prstGeom>
          <a:ln w="12700">
            <a:solidFill>
              <a:srgbClr val="D8DE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828800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1A1F26"/>
                </a:solidFill>
                <a:latin typeface="Calibri"/>
              </a:rPr>
              <a:t>Antonio D'Angelo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98A3D"/>
                </a:solidFill>
                <a:latin typeface="Consolas"/>
              </a:rPr>
              <a:t>Finance / GTM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512064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>
                <a:solidFill>
                  <a:srgbClr val="1A1F26"/>
                </a:solidFill>
                <a:latin typeface="Calibri"/>
              </a:rPr>
              <a:t>•  Fixed income analyst, Titan Capital Management, co-directs $1M of a $4M portfolio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>
                <a:solidFill>
                  <a:srgbClr val="1A1F26"/>
                </a:solidFill>
                <a:latin typeface="Calibri"/>
              </a:rPr>
              <a:t>•  Equity analyst, CSUF Student Managed Investment Fund, $50K portfolio under CFA standards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>
                <a:solidFill>
                  <a:srgbClr val="1A1F26"/>
                </a:solidFill>
                <a:latin typeface="Calibri"/>
              </a:rPr>
              <a:t>•  RevOps/GTM analyst, Parsec Automation, builds LLM-based automation for enterprise GTM workflows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>
                <a:solidFill>
                  <a:srgbClr val="1A1F26"/>
                </a:solidFill>
                <a:latin typeface="Calibri"/>
              </a:rPr>
              <a:t>•  Prior VC analyst experience, Sunset Ventures, SaaS deal evaluation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828800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1A1F26"/>
                </a:solidFill>
                <a:latin typeface="Calibri"/>
              </a:rPr>
              <a:t>Samuel Kim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2286000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98A3D"/>
                </a:solidFill>
                <a:latin typeface="Consolas"/>
              </a:rPr>
              <a:t>Backend / Data Integration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743200"/>
            <a:ext cx="512064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>
                <a:solidFill>
                  <a:srgbClr val="1A1F26"/>
                </a:solidFill>
                <a:latin typeface="Calibri"/>
              </a:rPr>
              <a:t>•  Building the OEM API integration and telemetry normalization layer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>
                <a:solidFill>
                  <a:srgbClr val="1A1F26"/>
                </a:solidFill>
                <a:latin typeface="Calibri"/>
              </a:rPr>
              <a:t>•  Titan Capital Management teammate, brings shared financial context to the technical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9224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675"/>
                </a:solidFill>
                <a:latin typeface="Consolas"/>
              </a:rPr>
              <a:t>BOTLIEN  //  CONFIDENTIAL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9224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675"/>
                </a:solidFill>
                <a:latin typeface="Consola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98A3D"/>
                </a:solidFill>
                <a:latin typeface="Consolas"/>
              </a:rPr>
              <a:t>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Pre-seed. Building toward one signed design partner and a working pilot.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920240"/>
            <a:ext cx="10881360" cy="0"/>
          </a:xfrm>
          <a:prstGeom prst="line">
            <a:avLst/>
          </a:prstGeom>
          <a:ln w="12700">
            <a:solidFill>
              <a:srgbClr val="3E6E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2286000"/>
            <a:ext cx="100584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600">
                <a:solidFill>
                  <a:srgbClr val="DDE8F0"/>
                </a:solidFill>
                <a:latin typeface="Calibri"/>
              </a:rPr>
              <a:t>•  Six-month target: Pudu + Bear coverage live, one design partner lender, one real pilot portfolio.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600">
                <a:solidFill>
                  <a:srgbClr val="DDE8F0"/>
                </a:solidFill>
                <a:latin typeface="Calibri"/>
              </a:rPr>
              <a:t>•  This is not a request to become a licensed lender, this is a monitoring and risk-data product, no balance sheet risk.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600">
                <a:solidFill>
                  <a:srgbClr val="DDE8F0"/>
                </a:solidFill>
                <a:latin typeface="Calibri"/>
              </a:rPr>
              <a:t>•  The window is open now: the closest competitor is humanoid-only, solo-founder, pre-pilot, and building for a market that doesn't exist at scale yet. This one already does.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035040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Antonio D'Angelo  ·  antoniosdangeloo@gmail.com  ·  (949) 842-9041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